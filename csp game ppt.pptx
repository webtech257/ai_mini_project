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6A8A127-BB09-41A4-B1CB-CF09F8E9604A}"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A9C543-C1A5-4BB5-A80B-9531F5C51CEB}"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B2ABE-BEC8-4A12-8AF2-3E9347C9F9C5}"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457CA91-FD83-4EFE-93EA-63992C03614F}"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D6C43A-13E2-48A2-BAE5-CC73887FC199}" type="datetime1">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A2C5D3-416C-4131-8BC9-E71DA97D5A64}" type="datetime1">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971593-8386-48B7-BB85-87C0949B2086}" type="datetime1">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70F398-88D3-4D2F-9F7E-785BF8AD0274}"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1A94C1-07AC-4775-8A4F-70BB05306BF7}" type="datetime1">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0BF149-3A71-4B38-9BDE-7A4D7C7AB1AD}"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415CF1-83E4-4056-B983-BD617F30DAFA}" type="datetime1">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CEF87E-815D-44D1-B0AB-39AF0402D6A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srcRect l="21229" t="27213" r="21523" b="35253"/>
          <a:stretch>
            <a:fillRect/>
          </a:stretch>
        </p:blipFill>
        <p:spPr bwMode="auto">
          <a:xfrm>
            <a:off x="3256548" y="136525"/>
            <a:ext cx="4776536" cy="834189"/>
          </a:xfrm>
          <a:prstGeom prst="rect">
            <a:avLst/>
          </a:prstGeom>
          <a:ln>
            <a:tailEnd type="none" w="med" len="med"/>
          </a:ln>
        </p:spPr>
        <p:style>
          <a:lnRef idx="1">
            <a:schemeClr val="accent2"/>
          </a:lnRef>
          <a:fillRef idx="3">
            <a:schemeClr val="accent2"/>
          </a:fillRef>
          <a:effectRef idx="2">
            <a:schemeClr val="accent2"/>
          </a:effectRef>
          <a:fontRef idx="minor">
            <a:schemeClr val="lt1"/>
          </a:fontRef>
        </p:style>
      </p:pic>
      <p:sp>
        <p:nvSpPr>
          <p:cNvPr id="7" name="Title 6"/>
          <p:cNvSpPr>
            <a:spLocks noGrp="1"/>
          </p:cNvSpPr>
          <p:nvPr>
            <p:ph type="ctrTitle"/>
          </p:nvPr>
        </p:nvSpPr>
        <p:spPr>
          <a:xfrm>
            <a:off x="838200" y="1297820"/>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CSE (ARTIFICIAL INTELLIGENCE AND MACHINE LEARNING)</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IN" sz="2400" b="1" dirty="0">
                <a:solidFill>
                  <a:srgbClr val="FF0000"/>
                </a:solidFill>
              </a:rPr>
              <a:t>Artificial Intelligence in Constraint Satisfaction: A Multi-Game Approach</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1365628066"/>
              </p:ext>
            </p:extLst>
          </p:nvPr>
        </p:nvGraphicFramePr>
        <p:xfrm>
          <a:off x="2098841" y="3845961"/>
          <a:ext cx="8392696" cy="2331278"/>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20000"/>
                    </a:ext>
                  </a:extLst>
                </a:gridCol>
                <a:gridCol w="6176211">
                  <a:extLst>
                    <a:ext uri="{9D8B030D-6E8A-4147-A177-3AD203B41FA5}">
                      <a16:colId xmlns:a16="http://schemas.microsoft.com/office/drawing/2014/main" val="20001"/>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r>
                        <a:rPr lang="en-IN" altLang="en-US" dirty="0" smtClean="0"/>
                        <a:t>2117240030078</a:t>
                      </a:r>
                      <a:endParaRPr lang="en-IN" altLang="en-US" dirty="0"/>
                    </a:p>
                  </a:txBody>
                  <a:tcPr/>
                </a:tc>
                <a:extLst>
                  <a:ext uri="{0D108BD9-81ED-4DB2-BD59-A6C34878D82A}">
                    <a16:rowId xmlns:a16="http://schemas.microsoft.com/office/drawing/2014/main" val="10000"/>
                  </a:ext>
                </a:extLst>
              </a:tr>
              <a:tr h="304380">
                <a:tc>
                  <a:txBody>
                    <a:bodyPr/>
                    <a:lstStyle/>
                    <a:p>
                      <a:r>
                        <a:rPr lang="en-GB" b="1" dirty="0">
                          <a:solidFill>
                            <a:schemeClr val="tx1"/>
                          </a:solidFill>
                        </a:rPr>
                        <a:t>NAME</a:t>
                      </a:r>
                      <a:endParaRPr lang="en-US" b="1" dirty="0">
                        <a:solidFill>
                          <a:schemeClr val="tx1"/>
                        </a:solidFill>
                      </a:endParaRPr>
                    </a:p>
                  </a:txBody>
                  <a:tcPr/>
                </a:tc>
                <a:tc>
                  <a:txBody>
                    <a:bodyPr/>
                    <a:lstStyle/>
                    <a:p>
                      <a:r>
                        <a:rPr lang="en-IN" altLang="en-US" dirty="0"/>
                        <a:t>S </a:t>
                      </a:r>
                      <a:r>
                        <a:rPr lang="en-IN" altLang="en-US" dirty="0" smtClean="0"/>
                        <a:t>MALAVIKA</a:t>
                      </a:r>
                      <a:endParaRPr lang="en-IN" altLang="en-US" dirty="0"/>
                    </a:p>
                  </a:txBody>
                  <a:tcPr/>
                </a:tc>
                <a:extLst>
                  <a:ext uri="{0D108BD9-81ED-4DB2-BD59-A6C34878D82A}">
                    <a16:rowId xmlns:a16="http://schemas.microsoft.com/office/drawing/2014/main" val="10001"/>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IN" altLang="en-US" dirty="0"/>
                        <a:t>II</a:t>
                      </a:r>
                    </a:p>
                  </a:txBody>
                  <a:tcPr/>
                </a:tc>
                <a:extLst>
                  <a:ext uri="{0D108BD9-81ED-4DB2-BD59-A6C34878D82A}">
                    <a16:rowId xmlns:a16="http://schemas.microsoft.com/office/drawing/2014/main" val="10002"/>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IN" altLang="en-US" dirty="0"/>
                        <a:t>AIML-B</a:t>
                      </a:r>
                    </a:p>
                  </a:txBody>
                  <a:tcPr/>
                </a:tc>
                <a:extLst>
                  <a:ext uri="{0D108BD9-81ED-4DB2-BD59-A6C34878D82A}">
                    <a16:rowId xmlns:a16="http://schemas.microsoft.com/office/drawing/2014/main" val="1000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GB" b="1" dirty="0"/>
                        <a:t>Mrs. M. </a:t>
                      </a:r>
                      <a:r>
                        <a:rPr lang="en-GB" b="1" dirty="0" err="1"/>
                        <a:t>Rubina</a:t>
                      </a:r>
                      <a:r>
                        <a:rPr lang="en-GB" b="1" dirty="0"/>
                        <a:t> </a:t>
                      </a:r>
                      <a:r>
                        <a:rPr lang="en-GB" b="1" dirty="0" err="1"/>
                        <a:t>begam</a:t>
                      </a:r>
                      <a:endParaRPr lang="en-US" b="1" dirty="0"/>
                    </a:p>
                  </a:txBody>
                  <a:tcPr/>
                </a:tc>
                <a:extLst>
                  <a:ext uri="{0D108BD9-81ED-4DB2-BD59-A6C34878D82A}">
                    <a16:rowId xmlns:a16="http://schemas.microsoft.com/office/drawing/2014/main" val="10004"/>
                  </a:ext>
                </a:extLst>
              </a:tr>
            </a:tbl>
          </a:graphicData>
        </a:graphic>
      </p:graphicFrame>
      <p:sp>
        <p:nvSpPr>
          <p:cNvPr id="12" name="Date Placeholder 11"/>
          <p:cNvSpPr>
            <a:spLocks noGrp="1"/>
          </p:cNvSpPr>
          <p:nvPr>
            <p:ph type="dt" sz="half" idx="10"/>
          </p:nvPr>
        </p:nvSpPr>
        <p:spPr/>
        <p:txBody>
          <a:bodyPr/>
          <a:lstStyle/>
          <a:p>
            <a:fld id="{F9B0B098-7844-408D-9BB3-6B083FBEE8AA}" type="datetime1">
              <a:rPr lang="en-US" smtClean="0"/>
              <a:t>11/2/2025</a:t>
            </a:fld>
            <a:endParaRPr lang="en-US"/>
          </a:p>
        </p:txBody>
      </p:sp>
      <p:sp>
        <p:nvSpPr>
          <p:cNvPr id="13" name="Slide Number Placeholder 12"/>
          <p:cNvSpPr>
            <a:spLocks noGrp="1"/>
          </p:cNvSpPr>
          <p:nvPr>
            <p:ph type="sldNum" sz="quarter" idx="12"/>
          </p:nvPr>
        </p:nvSpPr>
        <p:spPr/>
        <p:txBody>
          <a:bodyPr/>
          <a:lstStyle/>
          <a:p>
            <a:fld id="{1FCEF87E-815D-44D1-B0AB-39AF0402D6A8}"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3" name="Content Placeholder 2"/>
          <p:cNvSpPr>
            <a:spLocks noGrp="1"/>
          </p:cNvSpPr>
          <p:nvPr>
            <p:ph idx="1"/>
          </p:nvPr>
        </p:nvSpPr>
        <p:spPr>
          <a:xfrm>
            <a:off x="260278" y="767868"/>
            <a:ext cx="11671443" cy="5818958"/>
          </a:xfrm>
        </p:spPr>
        <p:txBody>
          <a:bodyPr>
            <a:normAutofit lnSpcReduction="10000"/>
          </a:bodyPr>
          <a:lstStyle/>
          <a:p>
            <a:r>
              <a:rPr lang="en-IN" dirty="0"/>
              <a:t>This project addresses the challenge of making abstract Constraint Satisfaction Problem (CSP) concepts in Artificial Intelligence accessible and understandable. Current teaching methods present CSPs as complex mathematical formulations without interactive, practical demonstrations, creating significant learning barriers.</a:t>
            </a:r>
          </a:p>
          <a:p>
            <a:r>
              <a:rPr lang="en-IN" b="1" dirty="0"/>
              <a:t>Core Problems:</a:t>
            </a:r>
            <a:endParaRPr lang="en-IN" dirty="0"/>
          </a:p>
          <a:p>
            <a:pPr lvl="0"/>
            <a:r>
              <a:rPr lang="en-IN" dirty="0"/>
              <a:t>Abstract concepts lack tangible representation</a:t>
            </a:r>
          </a:p>
          <a:p>
            <a:pPr lvl="0"/>
            <a:r>
              <a:rPr lang="en-IN" dirty="0"/>
              <a:t>No unified platform showing CSP applications across domains</a:t>
            </a:r>
          </a:p>
          <a:p>
            <a:pPr lvl="0"/>
            <a:r>
              <a:rPr lang="en-IN" dirty="0"/>
              <a:t>Passive learning materials limit engagement</a:t>
            </a:r>
          </a:p>
          <a:p>
            <a:pPr lvl="0"/>
            <a:r>
              <a:rPr lang="en-IN" dirty="0"/>
              <a:t>No real-time feedback during problem-solving</a:t>
            </a:r>
          </a:p>
          <a:p>
            <a:r>
              <a:rPr lang="en-IN" b="1" dirty="0"/>
              <a:t>Project Objective:</a:t>
            </a:r>
            <a:r>
              <a:rPr lang="en-IN" dirty="0"/>
              <a:t> Develop an interactive web portal featuring three CSP-based games (N-Queens, Sudoku, Map </a:t>
            </a:r>
            <a:r>
              <a:rPr lang="en-IN" dirty="0" err="1"/>
              <a:t>Coloring</a:t>
            </a:r>
            <a:r>
              <a:rPr lang="en-IN" dirty="0"/>
              <a:t>) that provides visual feedback, automated solving, and guided learning</a:t>
            </a:r>
            <a:endParaRPr lang="en-US" dirty="0"/>
          </a:p>
          <a:p>
            <a:pPr marL="0" indent="0">
              <a:buNone/>
            </a:pPr>
            <a:endParaRPr lang="en-US" dirty="0"/>
          </a:p>
          <a:p>
            <a:pPr marL="0" indent="0">
              <a:buNone/>
            </a:pPr>
            <a:endParaRPr lang="en-US" dirty="0"/>
          </a:p>
          <a:p>
            <a:pPr marL="0" indent="0">
              <a:buNone/>
            </a:pPr>
            <a:endParaRPr lang="en-US" dirty="0"/>
          </a:p>
        </p:txBody>
      </p:sp>
      <p:sp>
        <p:nvSpPr>
          <p:cNvPr id="4" name="Date Placeholder 3"/>
          <p:cNvSpPr>
            <a:spLocks noGrp="1"/>
          </p:cNvSpPr>
          <p:nvPr>
            <p:ph type="dt" sz="half" idx="10"/>
          </p:nvPr>
        </p:nvSpPr>
        <p:spPr>
          <a:xfrm>
            <a:off x="320639" y="6471588"/>
            <a:ext cx="2743200" cy="365125"/>
          </a:xfrm>
        </p:spPr>
        <p:txBody>
          <a:bodyPr/>
          <a:lstStyle/>
          <a:p>
            <a:r>
              <a:rPr lang="en-US" dirty="0" smtClean="0"/>
              <a:t>11/2/2025</a:t>
            </a:r>
            <a:endParaRPr lang="en-US" dirty="0"/>
          </a:p>
        </p:txBody>
      </p:sp>
      <p:sp>
        <p:nvSpPr>
          <p:cNvPr id="5" name="Slide Number Placeholder 4"/>
          <p:cNvSpPr>
            <a:spLocks noGrp="1"/>
          </p:cNvSpPr>
          <p:nvPr>
            <p:ph type="sldNum" sz="quarter" idx="12"/>
          </p:nvPr>
        </p:nvSpPr>
        <p:spPr/>
        <p:txBody>
          <a:bodyPr/>
          <a:lstStyle/>
          <a:p>
            <a:fld id="{1FCEF87E-815D-44D1-B0AB-39AF0402D6A8}"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p:cNvSpPr>
            <a:spLocks noGrp="1"/>
          </p:cNvSpPr>
          <p:nvPr>
            <p:ph idx="1"/>
          </p:nvPr>
        </p:nvSpPr>
        <p:spPr>
          <a:xfrm>
            <a:off x="213058" y="845132"/>
            <a:ext cx="12302213" cy="5876342"/>
          </a:xfrm>
        </p:spPr>
        <p:txBody>
          <a:bodyPr>
            <a:normAutofit fontScale="62500" lnSpcReduction="20000"/>
          </a:bodyPr>
          <a:lstStyle/>
          <a:p>
            <a:pPr marL="0" indent="0">
              <a:buNone/>
            </a:pPr>
            <a:r>
              <a:rPr lang="en-US" b="1" dirty="0"/>
              <a:t>Theoretical Background</a:t>
            </a:r>
          </a:p>
          <a:p>
            <a:pPr marL="0" indent="0">
              <a:buNone/>
            </a:pPr>
            <a:r>
              <a:rPr lang="en-IN" b="1" dirty="0" smtClean="0"/>
              <a:t>Constraint </a:t>
            </a:r>
            <a:r>
              <a:rPr lang="en-IN" b="1" dirty="0"/>
              <a:t>Satisfaction Problems (CSPs</a:t>
            </a:r>
            <a:r>
              <a:rPr lang="en-IN" b="1" dirty="0" smtClean="0"/>
              <a:t>)</a:t>
            </a:r>
          </a:p>
          <a:p>
            <a:pPr marL="0" indent="0">
              <a:buNone/>
            </a:pPr>
            <a:r>
              <a:rPr lang="en-IN" dirty="0"/>
              <a:t/>
            </a:r>
            <a:br>
              <a:rPr lang="en-IN" dirty="0"/>
            </a:br>
            <a:r>
              <a:rPr lang="en-IN" dirty="0"/>
              <a:t>CSPs involve finding assignments to variables that satisfy given constraints. Defined by:</a:t>
            </a:r>
          </a:p>
          <a:p>
            <a:pPr lvl="0"/>
            <a:r>
              <a:rPr lang="en-IN" dirty="0"/>
              <a:t>Variables: Entities to determine</a:t>
            </a:r>
          </a:p>
          <a:p>
            <a:pPr lvl="0"/>
            <a:r>
              <a:rPr lang="en-IN" dirty="0"/>
              <a:t>Domains: Possible values</a:t>
            </a:r>
          </a:p>
          <a:p>
            <a:pPr lvl="0"/>
            <a:r>
              <a:rPr lang="en-IN" dirty="0"/>
              <a:t>Constraints: Rules governing valid combinations</a:t>
            </a:r>
          </a:p>
          <a:p>
            <a:pPr marL="0" indent="0">
              <a:buNone/>
            </a:pPr>
            <a:r>
              <a:rPr lang="en-IN" b="1" dirty="0"/>
              <a:t>Problem Models:</a:t>
            </a:r>
            <a:endParaRPr lang="en-IN" dirty="0"/>
          </a:p>
          <a:p>
            <a:pPr lvl="0"/>
            <a:r>
              <a:rPr lang="en-IN" b="1" dirty="0"/>
              <a:t>N-Queens</a:t>
            </a:r>
            <a:r>
              <a:rPr lang="en-IN" dirty="0"/>
              <a:t>: Place queens avoiding attacks</a:t>
            </a:r>
          </a:p>
          <a:p>
            <a:pPr lvl="0"/>
            <a:r>
              <a:rPr lang="en-IN" b="1" dirty="0"/>
              <a:t>Sudoku</a:t>
            </a:r>
            <a:r>
              <a:rPr lang="en-IN" dirty="0"/>
              <a:t>: Fill grid following row/column/box rules</a:t>
            </a:r>
          </a:p>
          <a:p>
            <a:pPr lvl="0"/>
            <a:r>
              <a:rPr lang="en-IN" b="1" dirty="0"/>
              <a:t>Map </a:t>
            </a:r>
            <a:r>
              <a:rPr lang="en-IN" b="1" dirty="0" err="1"/>
              <a:t>Coloring</a:t>
            </a:r>
            <a:r>
              <a:rPr lang="en-IN" dirty="0"/>
              <a:t>: </a:t>
            </a:r>
            <a:r>
              <a:rPr lang="en-IN" dirty="0" err="1"/>
              <a:t>Color</a:t>
            </a:r>
            <a:r>
              <a:rPr lang="en-IN" dirty="0"/>
              <a:t> adjacent regions differently</a:t>
            </a:r>
          </a:p>
          <a:p>
            <a:pPr marL="0" indent="0">
              <a:buNone/>
            </a:pPr>
            <a:r>
              <a:rPr lang="en-IN" b="1" dirty="0"/>
              <a:t>Algorithm Selection: Backtracking with Forward </a:t>
            </a:r>
            <a:r>
              <a:rPr lang="en-IN" b="1" dirty="0" smtClean="0"/>
              <a:t>Checking</a:t>
            </a:r>
          </a:p>
          <a:p>
            <a:pPr marL="0" indent="0">
              <a:buNone/>
            </a:pPr>
            <a:r>
              <a:rPr lang="en-IN" dirty="0"/>
              <a:t/>
            </a:r>
            <a:br>
              <a:rPr lang="en-IN" dirty="0"/>
            </a:br>
            <a:r>
              <a:rPr lang="en-IN" dirty="0"/>
              <a:t>Selected for:</a:t>
            </a:r>
          </a:p>
          <a:p>
            <a:pPr lvl="0"/>
            <a:r>
              <a:rPr lang="en-IN" b="1" dirty="0"/>
              <a:t>Educational Value</a:t>
            </a:r>
            <a:r>
              <a:rPr lang="en-IN" dirty="0"/>
              <a:t>: Clear step-by-step process</a:t>
            </a:r>
          </a:p>
          <a:p>
            <a:pPr lvl="0"/>
            <a:r>
              <a:rPr lang="en-IN" b="1" dirty="0"/>
              <a:t>Visualization</a:t>
            </a:r>
            <a:r>
              <a:rPr lang="en-IN" dirty="0"/>
              <a:t>: Easy to demonstrate constraint propagation</a:t>
            </a:r>
          </a:p>
          <a:p>
            <a:pPr lvl="0"/>
            <a:r>
              <a:rPr lang="en-IN" b="1" dirty="0"/>
              <a:t>Adaptability</a:t>
            </a:r>
            <a:r>
              <a:rPr lang="en-IN" dirty="0"/>
              <a:t>: Works across all three problem types</a:t>
            </a:r>
          </a:p>
          <a:p>
            <a:pPr lvl="0"/>
            <a:r>
              <a:rPr lang="en-IN" b="1" dirty="0"/>
              <a:t>Foundation</a:t>
            </a:r>
            <a:r>
              <a:rPr lang="en-IN" dirty="0"/>
              <a:t>: Basis for understanding advanced methods</a:t>
            </a:r>
          </a:p>
          <a:p>
            <a:r>
              <a:rPr lang="en-IN" dirty="0"/>
              <a:t>This approach optimally balances educational clarity with practical implementation for interactive learning.</a:t>
            </a:r>
          </a:p>
          <a:p>
            <a:pPr marL="0" indent="0">
              <a:buNone/>
            </a:pPr>
            <a:endParaRPr lang="en-US" dirty="0"/>
          </a:p>
        </p:txBody>
      </p:sp>
      <p:sp>
        <p:nvSpPr>
          <p:cNvPr id="4" name="Date Placeholder 3"/>
          <p:cNvSpPr>
            <a:spLocks noGrp="1"/>
          </p:cNvSpPr>
          <p:nvPr>
            <p:ph type="dt" sz="half" idx="10"/>
          </p:nvPr>
        </p:nvSpPr>
        <p:spPr>
          <a:xfrm>
            <a:off x="213058" y="6538912"/>
            <a:ext cx="2743200" cy="365125"/>
          </a:xfrm>
        </p:spPr>
        <p:txBody>
          <a:bodyPr/>
          <a:lstStyle/>
          <a:p>
            <a:fld id="{316FBEDF-053F-468F-8CCF-D1ACE4FBB50D}" type="datetime1">
              <a:rPr lang="en-US" smtClean="0"/>
              <a:t>11/2/2025</a:t>
            </a:fld>
            <a:endParaRPr lang="en-US" dirty="0"/>
          </a:p>
        </p:txBody>
      </p:sp>
      <p:sp>
        <p:nvSpPr>
          <p:cNvPr id="5" name="Slide Number Placeholder 4"/>
          <p:cNvSpPr>
            <a:spLocks noGrp="1"/>
          </p:cNvSpPr>
          <p:nvPr>
            <p:ph type="sldNum" sz="quarter" idx="12"/>
          </p:nvPr>
        </p:nvSpPr>
        <p:spPr/>
        <p:txBody>
          <a:bodyPr/>
          <a:lstStyle/>
          <a:p>
            <a:fld id="{1FCEF87E-815D-44D1-B0AB-39AF0402D6A8}"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p:cNvSpPr>
            <a:spLocks noGrp="1"/>
          </p:cNvSpPr>
          <p:nvPr>
            <p:ph type="sldNum" sz="quarter" idx="12"/>
          </p:nvPr>
        </p:nvSpPr>
        <p:spPr/>
        <p:txBody>
          <a:bodyPr/>
          <a:lstStyle/>
          <a:p>
            <a:fld id="{1FCEF87E-815D-44D1-B0AB-39AF0402D6A8}" type="slidenum">
              <a:rPr lang="en-US" smtClean="0"/>
              <a:t>4</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899648240"/>
              </p:ext>
            </p:extLst>
          </p:nvPr>
        </p:nvGraphicFramePr>
        <p:xfrm>
          <a:off x="1854200" y="2205222"/>
          <a:ext cx="8128000" cy="201676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0">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b="0" i="0" kern="1200" dirty="0" smtClean="0">
                          <a:solidFill>
                            <a:schemeClr val="dk1"/>
                          </a:solidFill>
                          <a:effectLst/>
                          <a:latin typeface="+mn-lt"/>
                          <a:ea typeface="+mn-ea"/>
                          <a:cs typeface="+mn-cs"/>
                        </a:rPr>
                        <a:t>https://github.com/webtech257/ai_mini_project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en-US" dirty="0" smtClean="0">
                          <a:solidFill>
                            <a:schemeClr val="tx1"/>
                          </a:solidFill>
                        </a:rPr>
                        <a:t>https://github.com/webtech257/ai_mini_project/blob/main/project%20pdf.pdf</a:t>
                      </a:r>
                      <a:endParaRPr lang="en-US"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4" name="Date Placeholder 3"/>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p:cNvSpPr>
            <a:spLocks noGrp="1"/>
          </p:cNvSpPr>
          <p:nvPr>
            <p:ph type="sldNum" sz="quarter" idx="12"/>
          </p:nvPr>
        </p:nvSpPr>
        <p:spPr/>
        <p:txBody>
          <a:bodyPr/>
          <a:lstStyle/>
          <a:p>
            <a:fld id="{1FCEF87E-815D-44D1-B0AB-39AF0402D6A8}" type="slidenum">
              <a:rPr lang="en-US" smtClean="0"/>
              <a:t>5</a:t>
            </a:fld>
            <a:endParaRPr lang="en-US"/>
          </a:p>
        </p:txBody>
      </p:sp>
      <p:pic>
        <p:nvPicPr>
          <p:cNvPr id="8" name="Picture 7"/>
          <p:cNvPicPr/>
          <p:nvPr/>
        </p:nvPicPr>
        <p:blipFill>
          <a:blip r:embed="rId2"/>
          <a:stretch>
            <a:fillRect/>
          </a:stretch>
        </p:blipFill>
        <p:spPr>
          <a:xfrm>
            <a:off x="0" y="1010653"/>
            <a:ext cx="5957455" cy="2888615"/>
          </a:xfrm>
          <a:prstGeom prst="rect">
            <a:avLst/>
          </a:prstGeom>
        </p:spPr>
      </p:pic>
      <p:pic>
        <p:nvPicPr>
          <p:cNvPr id="10" name="Picture 9"/>
          <p:cNvPicPr/>
          <p:nvPr/>
        </p:nvPicPr>
        <p:blipFill>
          <a:blip r:embed="rId3"/>
          <a:stretch>
            <a:fillRect/>
          </a:stretch>
        </p:blipFill>
        <p:spPr>
          <a:xfrm>
            <a:off x="6248400" y="1010654"/>
            <a:ext cx="5943600" cy="2888615"/>
          </a:xfrm>
          <a:prstGeom prst="rect">
            <a:avLst/>
          </a:prstGeom>
        </p:spPr>
      </p:pic>
      <p:pic>
        <p:nvPicPr>
          <p:cNvPr id="11" name="Picture 10"/>
          <p:cNvPicPr/>
          <p:nvPr/>
        </p:nvPicPr>
        <p:blipFill>
          <a:blip r:embed="rId4"/>
          <a:stretch>
            <a:fillRect/>
          </a:stretch>
        </p:blipFill>
        <p:spPr>
          <a:xfrm>
            <a:off x="-1" y="3971637"/>
            <a:ext cx="5975927" cy="2886364"/>
          </a:xfrm>
          <a:prstGeom prst="rect">
            <a:avLst/>
          </a:prstGeom>
        </p:spPr>
      </p:pic>
      <p:pic>
        <p:nvPicPr>
          <p:cNvPr id="12" name="Picture 11"/>
          <p:cNvPicPr/>
          <p:nvPr/>
        </p:nvPicPr>
        <p:blipFill>
          <a:blip r:embed="rId5"/>
          <a:stretch>
            <a:fillRect/>
          </a:stretch>
        </p:blipFill>
        <p:spPr>
          <a:xfrm>
            <a:off x="6248400" y="3977640"/>
            <a:ext cx="5943600" cy="28803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p:cNvSpPr>
            <a:spLocks noGrp="1"/>
          </p:cNvSpPr>
          <p:nvPr>
            <p:ph idx="1"/>
          </p:nvPr>
        </p:nvSpPr>
        <p:spPr>
          <a:xfrm>
            <a:off x="203200" y="1080656"/>
            <a:ext cx="11822545" cy="5551053"/>
          </a:xfrm>
        </p:spPr>
        <p:txBody>
          <a:bodyPr>
            <a:normAutofit fontScale="70000" lnSpcReduction="20000"/>
          </a:bodyPr>
          <a:lstStyle/>
          <a:p>
            <a:r>
              <a:rPr lang="en-IN" b="1" dirty="0"/>
              <a:t>RESULTS ACHIEVED</a:t>
            </a:r>
            <a:endParaRPr lang="en-IN" dirty="0"/>
          </a:p>
          <a:p>
            <a:pPr lvl="0"/>
            <a:r>
              <a:rPr lang="en-IN" dirty="0"/>
              <a:t>✅ Interactive portal with 3 CSP games</a:t>
            </a:r>
          </a:p>
          <a:p>
            <a:pPr lvl="0"/>
            <a:r>
              <a:rPr lang="en-IN" dirty="0"/>
              <a:t>✅ Visual constraint feedback</a:t>
            </a:r>
          </a:p>
          <a:p>
            <a:pPr lvl="0"/>
            <a:r>
              <a:rPr lang="en-IN" dirty="0"/>
              <a:t>✅ Real-time conflict detection</a:t>
            </a:r>
          </a:p>
          <a:p>
            <a:pPr lvl="0"/>
            <a:r>
              <a:rPr lang="en-IN" dirty="0"/>
              <a:t>✅ Unified algorithm for all problems</a:t>
            </a:r>
          </a:p>
          <a:p>
            <a:r>
              <a:rPr lang="en-IN" b="1" dirty="0" smtClean="0"/>
              <a:t>Future </a:t>
            </a:r>
            <a:r>
              <a:rPr lang="en-IN" b="1" dirty="0"/>
              <a:t>Enhancements</a:t>
            </a:r>
          </a:p>
          <a:p>
            <a:r>
              <a:rPr lang="en-IN" b="1" dirty="0"/>
              <a:t>FUTURE ENHANCEMENTS</a:t>
            </a:r>
            <a:endParaRPr lang="en-IN" dirty="0"/>
          </a:p>
          <a:p>
            <a:pPr lvl="0"/>
            <a:r>
              <a:rPr lang="en-IN" b="1" dirty="0"/>
              <a:t>Short-term:</a:t>
            </a:r>
            <a:endParaRPr lang="en-IN" dirty="0"/>
          </a:p>
          <a:p>
            <a:pPr lvl="1"/>
            <a:r>
              <a:rPr lang="en-IN" dirty="0"/>
              <a:t>Step-by-step visualization</a:t>
            </a:r>
          </a:p>
          <a:p>
            <a:pPr lvl="1"/>
            <a:r>
              <a:rPr lang="en-IN" dirty="0"/>
              <a:t>Difficulty levels</a:t>
            </a:r>
          </a:p>
          <a:p>
            <a:pPr lvl="1"/>
            <a:r>
              <a:rPr lang="en-IN" dirty="0"/>
              <a:t>More CSP problems</a:t>
            </a:r>
          </a:p>
          <a:p>
            <a:pPr lvl="0"/>
            <a:r>
              <a:rPr lang="en-IN" b="1" dirty="0"/>
              <a:t>Medium-term:</a:t>
            </a:r>
            <a:endParaRPr lang="en-IN" dirty="0"/>
          </a:p>
          <a:p>
            <a:pPr lvl="1"/>
            <a:r>
              <a:rPr lang="en-IN" dirty="0"/>
              <a:t>Intelligent tutoring system</a:t>
            </a:r>
          </a:p>
          <a:p>
            <a:pPr lvl="1"/>
            <a:r>
              <a:rPr lang="en-IN" dirty="0"/>
              <a:t>Multi-algorithm comparison</a:t>
            </a:r>
          </a:p>
          <a:p>
            <a:pPr lvl="1"/>
            <a:r>
              <a:rPr lang="en-IN" dirty="0"/>
              <a:t>Collaborative features</a:t>
            </a:r>
          </a:p>
          <a:p>
            <a:pPr lvl="0"/>
            <a:r>
              <a:rPr lang="en-IN" b="1" dirty="0"/>
              <a:t>Long-term:</a:t>
            </a:r>
            <a:endParaRPr lang="en-IN" dirty="0"/>
          </a:p>
          <a:p>
            <a:pPr lvl="1"/>
            <a:r>
              <a:rPr lang="en-IN" dirty="0"/>
              <a:t>AI-powered adaptation</a:t>
            </a:r>
          </a:p>
          <a:p>
            <a:pPr lvl="1"/>
            <a:r>
              <a:rPr lang="en-IN" dirty="0"/>
              <a:t>Automated problem </a:t>
            </a:r>
            <a:r>
              <a:rPr lang="en-IN" dirty="0" smtClean="0"/>
              <a:t>generation</a:t>
            </a:r>
            <a:endParaRPr lang="en-IN" dirty="0"/>
          </a:p>
        </p:txBody>
      </p:sp>
      <p:sp>
        <p:nvSpPr>
          <p:cNvPr id="4" name="Date Placeholder 3"/>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p:cNvSpPr>
            <a:spLocks noGrp="1"/>
          </p:cNvSpPr>
          <p:nvPr>
            <p:ph type="sldNum" sz="quarter" idx="12"/>
          </p:nvPr>
        </p:nvSpPr>
        <p:spPr/>
        <p:txBody>
          <a:bodyPr/>
          <a:lstStyle/>
          <a:p>
            <a:fld id="{1FCEF87E-815D-44D1-B0AB-39AF0402D6A8}"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p:cNvSpPr>
            <a:spLocks noGrp="1"/>
          </p:cNvSpPr>
          <p:nvPr>
            <p:ph idx="1"/>
          </p:nvPr>
        </p:nvSpPr>
        <p:spPr>
          <a:xfrm>
            <a:off x="349321" y="1267326"/>
            <a:ext cx="11661169" cy="4909637"/>
          </a:xfrm>
        </p:spPr>
        <p:txBody>
          <a:bodyPr/>
          <a:lstStyle/>
          <a:p>
            <a:pPr lvl="0"/>
            <a:r>
              <a:rPr lang="en-IN" dirty="0"/>
              <a:t>Russell, S., &amp; </a:t>
            </a:r>
            <a:r>
              <a:rPr lang="en-IN" dirty="0" err="1"/>
              <a:t>Norvig</a:t>
            </a:r>
            <a:r>
              <a:rPr lang="en-IN" dirty="0"/>
              <a:t>, P. (2020). </a:t>
            </a:r>
            <a:r>
              <a:rPr lang="en-IN" i="1" dirty="0"/>
              <a:t>Artificial Intelligence: A Modern Approach</a:t>
            </a:r>
            <a:r>
              <a:rPr lang="en-IN" dirty="0"/>
              <a:t> (4th ed.). Pearson. - CSP fundamentals</a:t>
            </a:r>
          </a:p>
          <a:p>
            <a:pPr lvl="0"/>
            <a:r>
              <a:rPr lang="en-IN" dirty="0"/>
              <a:t>Kumar, V. (1992). "Algorithms for Constraint Satisfaction Problems: A Survey". AI Magazine - Backtracking algorithms</a:t>
            </a:r>
          </a:p>
          <a:p>
            <a:pPr lvl="0"/>
            <a:r>
              <a:rPr lang="en-IN" dirty="0" err="1"/>
              <a:t>Mackworth</a:t>
            </a:r>
            <a:r>
              <a:rPr lang="en-IN" dirty="0"/>
              <a:t>, A.K. (1977). "Consistency in Networks of Relations". Artificial Intelligence - Constraint propagation</a:t>
            </a:r>
          </a:p>
          <a:p>
            <a:pPr lvl="0"/>
            <a:r>
              <a:rPr lang="en-IN" dirty="0"/>
              <a:t>Knuth, D.E. (2000). "Dancing Links". </a:t>
            </a:r>
            <a:r>
              <a:rPr lang="en-IN" dirty="0" err="1"/>
              <a:t>arXiv:cs</a:t>
            </a:r>
            <a:r>
              <a:rPr lang="en-IN" dirty="0"/>
              <a:t>/0011047 - Exact cover problems</a:t>
            </a:r>
          </a:p>
          <a:p>
            <a:pPr lvl="0"/>
            <a:r>
              <a:rPr lang="en-IN" dirty="0"/>
              <a:t>Minton, S., et al. (1992). "Min-Conflicts: A Heuristic for CSPs". Artificial Intelligence - Local search</a:t>
            </a:r>
          </a:p>
          <a:p>
            <a:pPr marL="0" lvl="0" indent="0">
              <a:buNone/>
            </a:pPr>
            <a:endParaRPr lang="en-US" b="1" dirty="0"/>
          </a:p>
        </p:txBody>
      </p:sp>
      <p:sp>
        <p:nvSpPr>
          <p:cNvPr id="4" name="Date Placeholder 3"/>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p:cNvSpPr>
            <a:spLocks noGrp="1"/>
          </p:cNvSpPr>
          <p:nvPr>
            <p:ph type="sldNum" sz="quarter" idx="12"/>
          </p:nvPr>
        </p:nvSpPr>
        <p:spPr/>
        <p:txBody>
          <a:bodyPr/>
          <a:lstStyle/>
          <a:p>
            <a:fld id="{1FCEF87E-815D-44D1-B0AB-39AF0402D6A8}" type="slidenum">
              <a:rPr lang="en-US" smtClean="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217</Words>
  <Application>Microsoft Office PowerPoint</Application>
  <PresentationFormat>Widescreen</PresentationFormat>
  <Paragraphs>87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DEPARTMENT OF CSE (ARTIFICIAL INTELLIGENCE AND MACHINE LEARNING) ACADEMIC YEAR 2025 - 2026 SEMESTER III ARTIFICIAL INTELLIGENCE LABORATORY  MINI PROJECT REVIEW   Artificial Intelligence in Constraint Satisfaction: A Multi-Game Approach</vt:lpstr>
      <vt:lpstr>PROBLEM STATEMENT</vt:lpstr>
      <vt:lpstr>THEORETICAL BACKGROUND</vt:lpstr>
      <vt:lpstr>IMPLEMENTATION AND CODE</vt:lpstr>
      <vt:lpstr>OUTPUT AND RESULTS</vt:lpstr>
      <vt:lpstr>OUTPUT AND RESULTS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CSE (ARTIFICIAL INTELLIGENCE AND MACHINE LEARNING) ACADEMIC YEAR 2025 - 2026 SEMESTER III ARTIFICIAL INTELLIGENCE LABORATORY  MINI PROJECT REVIEW   &lt;TITLE OF THE PROJECT&gt;</dc:title>
  <dc:creator>SANKAR GANESH K</dc:creator>
  <cp:lastModifiedBy>Admin</cp:lastModifiedBy>
  <cp:revision>14</cp:revision>
  <dcterms:created xsi:type="dcterms:W3CDTF">2025-10-18T08:57:00Z</dcterms:created>
  <dcterms:modified xsi:type="dcterms:W3CDTF">2025-11-02T14:10:51Z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22A39840297F4728A44952995686CB4E_12</vt:lpwstr>
  </property>
  <property fmtid="{D5CDD505-2E9C-101B-9397-08002B2CF9AE}" pid="3" name="KSOProductBuildVer">
    <vt:lpwstr>1033-12.2.0.23155</vt:lpwstr>
  </property>
</Properties>
</file>